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Hi! We're Project STEMulate. Today we'd love to introduce STEMulate Academy, our online learning platform, and explore how your organisation's students could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jpg"/><Relationship Id="rId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Relationship Id="rId4" Type="http://schemas.openxmlformats.org/officeDocument/2006/relationships/image" Target="../media/image15.jp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84500" y="952500"/>
            <a:ext cx="6223000" cy="4953000"/>
          </a:xfrm>
          <a:prstGeom prst="roundRect">
            <a:avLst>
              <a:gd name="adj" fmla="val 6153"/>
            </a:avLst>
          </a:prstGeom>
          <a:solidFill>
            <a:srgbClr val="FFFFFF">
              <a:alpha val="96000"/>
            </a:srgbClr>
          </a:solidFill>
          <a:ln w="25400">
            <a:solidFill>
              <a:srgbClr val="D9F99D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250" y="1301750"/>
            <a:ext cx="1079500" cy="96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84500" y="2413000"/>
            <a:ext cx="622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40" b="1" i="0">
                <a:solidFill>
                  <a:srgbClr val="0F172A"/>
                </a:solidFill>
                <a:latin typeface="Fredoka"/>
              </a:rPr>
              <a:t>STEMulate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0" y="3238500"/>
            <a:ext cx="622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65A30D"/>
                </a:solidFill>
                <a:latin typeface="Fredoka"/>
              </a:rPr>
              <a:t>Where STEM meets play!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670300"/>
            <a:ext cx="508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60" b="0" i="0">
                <a:solidFill>
                  <a:srgbClr val="475569"/>
                </a:solidFill>
                <a:latin typeface="Nunito"/>
              </a:rPr>
              <a:t>A game-based STEM learning platform for primary school students, built by Project STEMulate.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0" y="4775200"/>
            <a:ext cx="2032000" cy="3175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47752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PARTNER DECK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4500" y="5346700"/>
            <a:ext cx="622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9" b="1" i="0">
                <a:solidFill>
                  <a:srgbClr val="3F6212"/>
                </a:solidFill>
                <a:latin typeface="Nunito"/>
              </a:rPr>
              <a:t>projstemulate.com</a:t>
            </a:r>
          </a:p>
        </p:txBody>
      </p:sp>
      <p:pic>
        <p:nvPicPr>
          <p:cNvPr id="11" name="Picture 10" descr="bo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762000" y="4064000"/>
            <a:ext cx="2012442" cy="2413000"/>
          </a:xfrm>
          <a:prstGeom prst="rect">
            <a:avLst/>
          </a:prstGeom>
        </p:spPr>
      </p:pic>
      <p:pic>
        <p:nvPicPr>
          <p:cNvPr id="12" name="Picture 11" descr="bo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1905000" y="952500"/>
            <a:ext cx="1672590" cy="1905000"/>
          </a:xfrm>
          <a:prstGeom prst="rect">
            <a:avLst/>
          </a:prstGeom>
        </p:spPr>
      </p:pic>
      <p:pic>
        <p:nvPicPr>
          <p:cNvPr id="13" name="Picture 12" descr="bot_c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9652000" y="1079500"/>
            <a:ext cx="1569720" cy="1905000"/>
          </a:xfrm>
          <a:prstGeom prst="rect">
            <a:avLst/>
          </a:prstGeom>
        </p:spPr>
      </p:pic>
      <p:pic>
        <p:nvPicPr>
          <p:cNvPr id="14" name="Picture 13" descr="bo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80000">
            <a:off x="9207500" y="3937000"/>
            <a:ext cx="215392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05410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0541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Project STEMulate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A student-initiated volunteering programme making STEM accessible to every child.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52070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3600" y="2133600"/>
            <a:ext cx="469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39" b="1" i="0">
                <a:solidFill>
                  <a:srgbClr val="0F172A"/>
                </a:solidFill>
                <a:latin typeface="Fredoka"/>
              </a:rPr>
              <a:t>Our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2514600"/>
            <a:ext cx="4699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75569"/>
                </a:solidFill>
                <a:latin typeface="Nunito"/>
              </a:rPr>
              <a:t>Founded in 2023 by Raffles Institution students, Project STEMulate runs STEM enrichment for primary schoolers from less-privileged backgrounds.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500" b="0" i="0">
                <a:solidFill>
                  <a:srgbClr val="475569"/>
                </a:solidFill>
                <a:latin typeface="Nunito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75569"/>
                </a:solidFill>
                <a:latin typeface="Nunito"/>
              </a:rPr>
              <a:t>We run experiments, workshops, learning journeys and tutoring so that every child gets an equal chance to fall in love with STEM, and to break the poverty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3600" y="46736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4100" y="4775200"/>
            <a:ext cx="43815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0" i="1">
                <a:solidFill>
                  <a:srgbClr val="713F12"/>
                </a:solidFill>
                <a:latin typeface="Nunito"/>
              </a:rPr>
              <a:t>“My children enjoyed going for Project STEMulate's workshops… afterwards they did talk about wanting to have a career in science!”</a:t>
            </a:r>
          </a:p>
          <a:p>
            <a:pPr algn="l">
              <a:lnSpc>
                <a:spcPct val="115000"/>
              </a:lnSpc>
            </a:pPr>
            <a:r>
              <a:rPr sz="1140" b="1" i="0">
                <a:solidFill>
                  <a:srgbClr val="A16207"/>
                </a:solidFill>
                <a:latin typeface="Nunito"/>
              </a:rPr>
              <a:t>— Parent of STEMulate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7600" y="1943100"/>
            <a:ext cx="533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Fredoka"/>
              </a:rPr>
              <a:t>Where we've made an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349500"/>
            <a:ext cx="5384800" cy="1066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375400" y="2527300"/>
            <a:ext cx="711200" cy="711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5400" y="25273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059669"/>
                </a:solidFill>
                <a:latin typeface="Fredok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4400" y="2540000"/>
            <a:ext cx="412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Canossaville Children &amp; Family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4400" y="2857500"/>
            <a:ext cx="412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0" i="0">
                <a:solidFill>
                  <a:srgbClr val="475569"/>
                </a:solidFill>
                <a:latin typeface="Nunito"/>
              </a:rPr>
              <a:t>STEM enrichment sessions, May to July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7600" y="3556000"/>
            <a:ext cx="5384800" cy="1066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75400" y="3733800"/>
            <a:ext cx="711200" cy="7112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75400" y="37338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0284C7"/>
                </a:solidFill>
                <a:latin typeface="Fredok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4400" y="3746500"/>
            <a:ext cx="412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CDAC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4400" y="4064000"/>
            <a:ext cx="412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0" i="0">
                <a:solidFill>
                  <a:srgbClr val="475569"/>
                </a:solidFill>
                <a:latin typeface="Nunito"/>
              </a:rPr>
              <a:t>One-off STEM workshops for children from underprivileged families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7600" y="4762500"/>
            <a:ext cx="5384800" cy="1066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375400" y="4940300"/>
            <a:ext cx="711200" cy="7112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75400" y="49403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7C3AED"/>
                </a:solidFill>
                <a:latin typeface="Fredok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4400" y="4953000"/>
            <a:ext cx="412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VIVA 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4400" y="5270500"/>
            <a:ext cx="412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0" i="0">
                <a:solidFill>
                  <a:srgbClr val="475569"/>
                </a:solidFill>
                <a:latin typeface="Nunito"/>
              </a:rPr>
              <a:t>Weekly 1-to-1 sessions for Children with Cancer since January 2025</a:t>
            </a:r>
          </a:p>
        </p:txBody>
      </p:sp>
      <p:pic>
        <p:nvPicPr>
          <p:cNvPr id="28" name="Picture 2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89535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8953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Our sessions end. Curiosity shouldn't.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STEMulate Academy keeps children learning between sessions, through the games they already love.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95500"/>
            <a:ext cx="2603500" cy="3810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2311400"/>
            <a:ext cx="635000" cy="63500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bo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86" y="2349500"/>
            <a:ext cx="490626" cy="55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800" y="3086100"/>
            <a:ext cx="222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Learn through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746500"/>
            <a:ext cx="2222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475569"/>
                </a:solidFill>
                <a:latin typeface="Nunito"/>
              </a:rPr>
              <a:t>Lessons are built around Minecraft, Monopoly and Among Us, so science and maths feel like a game, not homework.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3600" y="2095500"/>
            <a:ext cx="2603500" cy="3810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606800" y="2311400"/>
            <a:ext cx="635000" cy="635000"/>
          </a:xfrm>
          <a:prstGeom prst="roundRect">
            <a:avLst>
              <a:gd name="adj" fmla="val 28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o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368" y="2349500"/>
            <a:ext cx="473862" cy="55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06800" y="3086100"/>
            <a:ext cx="222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Rewards for every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6800" y="3746500"/>
            <a:ext cx="2222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475569"/>
                </a:solidFill>
                <a:latin typeface="Nunito"/>
              </a:rPr>
              <a:t>XP, Atoms, levels, badges and collectible cards give children a reason to come back, and to finish every lesson.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7600" y="2095500"/>
            <a:ext cx="2603500" cy="3810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400800" y="2311400"/>
            <a:ext cx="635000" cy="635000"/>
          </a:xfrm>
          <a:prstGeom prst="roundRect">
            <a:avLst>
              <a:gd name="adj" fmla="val 2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ot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280" y="2349500"/>
            <a:ext cx="466039" cy="55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3086100"/>
            <a:ext cx="222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Simple and safe to 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6500"/>
            <a:ext cx="2222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0" i="0">
                <a:solidFill>
                  <a:srgbClr val="475569"/>
                </a:solidFill>
                <a:latin typeface="Nunito"/>
              </a:rPr>
              <a:t>Children sign in with just a username and a 4-digit PIN (no email needed), and their progress is saved to their account.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7000" y="2450224"/>
            <a:ext cx="2667000" cy="310055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login_ca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3200" y="2526424"/>
            <a:ext cx="2514600" cy="29481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17000" y="59944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1" i="0">
                <a:solidFill>
                  <a:srgbClr val="3F6212"/>
                </a:solidFill>
                <a:latin typeface="Nunito"/>
              </a:rPr>
              <a:t>The Academy's sign-in page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20650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206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STEMulate Academy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One cheerful dashboard for lessons, rewards, cards, games and friends.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189" y="1905000"/>
            <a:ext cx="7005320" cy="4445000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89" y="1993900"/>
            <a:ext cx="6827520" cy="4267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91500" y="1905000"/>
            <a:ext cx="3390900" cy="977900"/>
          </a:xfrm>
          <a:prstGeom prst="roundRect">
            <a:avLst>
              <a:gd name="adj" fmla="val 1688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343900" y="2070100"/>
            <a:ext cx="279400" cy="279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43900" y="20701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2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7600" y="2032000"/>
            <a:ext cx="2730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Fredoka"/>
              </a:rPr>
              <a:t>XP &amp; Atoms top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7600" y="2298700"/>
            <a:ext cx="273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Always shows level progress, so every activity feels rewarding.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0" y="2997200"/>
            <a:ext cx="3390900" cy="977900"/>
          </a:xfrm>
          <a:prstGeom prst="roundRect">
            <a:avLst>
              <a:gd name="adj" fmla="val 1688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43900" y="3162300"/>
            <a:ext cx="279400" cy="279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43900" y="31623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2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600" y="3124200"/>
            <a:ext cx="2730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Fredoka"/>
              </a:rPr>
              <a:t>Meet the STEMbots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0" y="3390900"/>
            <a:ext cx="273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Four friendly guides, one for each STEM discipline.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1500" y="4089400"/>
            <a:ext cx="3390900" cy="977900"/>
          </a:xfrm>
          <a:prstGeom prst="roundRect">
            <a:avLst>
              <a:gd name="adj" fmla="val 1688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343900" y="4254500"/>
            <a:ext cx="279400" cy="279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43900" y="42545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2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7600" y="4216400"/>
            <a:ext cx="2730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Fredoka"/>
              </a:rPr>
              <a:t>Filter by level &amp; topic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600" y="4483100"/>
            <a:ext cx="273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P1 to P6, plus syllabus topics like Cycles, Energy and Algebra.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500" y="5181600"/>
            <a:ext cx="3390900" cy="977900"/>
          </a:xfrm>
          <a:prstGeom prst="roundRect">
            <a:avLst>
              <a:gd name="adj" fmla="val 1688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43900" y="5346700"/>
            <a:ext cx="279400" cy="279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43900" y="53467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2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7600" y="5308600"/>
            <a:ext cx="2730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Fredoka"/>
              </a:rPr>
              <a:t>Six tabs to explore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7600" y="5575300"/>
            <a:ext cx="273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Home, Cards, Leaderboard, Gallery, Games and Friends, on desktop or mobile.</a:t>
            </a:r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05410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0541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OUR GUIDES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Meet the STEMbots!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Every lesson is narrated by four characters, one for each letter of 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8500"/>
            <a:ext cx="2603500" cy="4064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0100" y="2133600"/>
            <a:ext cx="2222500" cy="1841500"/>
          </a:xfrm>
          <a:prstGeom prst="roundRect">
            <a:avLst>
              <a:gd name="adj" fmla="val 8965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bo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87" y="2222500"/>
            <a:ext cx="1387525" cy="1663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41148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 i="0">
                <a:solidFill>
                  <a:srgbClr val="0F172A"/>
                </a:solidFill>
                <a:latin typeface="Fredoka"/>
              </a:rPr>
              <a:t>Sophia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9675" y="4521200"/>
            <a:ext cx="1403350" cy="254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09675" y="4521200"/>
            <a:ext cx="14033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40" b="1" i="0">
                <a:solidFill>
                  <a:srgbClr val="059669"/>
                </a:solidFill>
                <a:latin typeface="Nunito"/>
              </a:rPr>
              <a:t>The Scientist</a:t>
            </a:r>
          </a:p>
        </p:txBody>
      </p:sp>
      <p:sp>
        <p:nvSpPr>
          <p:cNvPr id="13" name="Oval 12"/>
          <p:cNvSpPr/>
          <p:nvPr/>
        </p:nvSpPr>
        <p:spPr>
          <a:xfrm>
            <a:off x="901700" y="2235200"/>
            <a:ext cx="406400" cy="4064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1700" y="22352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39" b="1" i="0">
                <a:solidFill>
                  <a:srgbClr val="FFFFFF"/>
                </a:solidFill>
                <a:latin typeface="Fredoka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4953000"/>
            <a:ext cx="2171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60" b="1" i="0">
                <a:solidFill>
                  <a:srgbClr val="059669"/>
                </a:solidFill>
                <a:latin typeface="Nunito"/>
              </a:rPr>
              <a:t>Fun fact: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Can name every layer of the Earth in under 5 seconds!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3600" y="1968500"/>
            <a:ext cx="2603500" cy="4064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594100" y="2133600"/>
            <a:ext cx="2222500" cy="1841500"/>
          </a:xfrm>
          <a:prstGeom prst="roundRect">
            <a:avLst>
              <a:gd name="adj" fmla="val 8965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o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985" y="2222500"/>
            <a:ext cx="1460728" cy="1663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94100" y="41148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 i="0">
                <a:solidFill>
                  <a:srgbClr val="0F172A"/>
                </a:solidFill>
                <a:latin typeface="Fredoka"/>
              </a:rPr>
              <a:t>Timothy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850" y="4521200"/>
            <a:ext cx="11430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33850" y="45212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40" b="1" i="0">
                <a:solidFill>
                  <a:srgbClr val="0284C7"/>
                </a:solidFill>
                <a:latin typeface="Nunito"/>
              </a:rPr>
              <a:t>The Techie</a:t>
            </a:r>
          </a:p>
        </p:txBody>
      </p:sp>
      <p:sp>
        <p:nvSpPr>
          <p:cNvPr id="22" name="Oval 21"/>
          <p:cNvSpPr/>
          <p:nvPr/>
        </p:nvSpPr>
        <p:spPr>
          <a:xfrm>
            <a:off x="3695700" y="2235200"/>
            <a:ext cx="406400" cy="406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95700" y="22352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39" b="1" i="0">
                <a:solidFill>
                  <a:srgbClr val="FFFFFF"/>
                </a:solidFill>
                <a:latin typeface="Fredoka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500" y="4953000"/>
            <a:ext cx="2171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60" b="1" i="0">
                <a:solidFill>
                  <a:srgbClr val="0284C7"/>
                </a:solidFill>
                <a:latin typeface="Nunito"/>
              </a:rPr>
              <a:t>Fun fact: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Built his first circuit out of a potato battery!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7600" y="1968500"/>
            <a:ext cx="2603500" cy="4064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388100" y="2133600"/>
            <a:ext cx="2222500" cy="1841500"/>
          </a:xfrm>
          <a:prstGeom prst="roundRect">
            <a:avLst>
              <a:gd name="adj" fmla="val 8965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bot_c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905" y="2222500"/>
            <a:ext cx="1370888" cy="16637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88100" y="41148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 i="0">
                <a:solidFill>
                  <a:srgbClr val="0F172A"/>
                </a:solidFill>
                <a:latin typeface="Fredoka"/>
              </a:rPr>
              <a:t>Emily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38950" y="4521200"/>
            <a:ext cx="1320800" cy="2540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38950" y="4521200"/>
            <a:ext cx="1320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40" b="1" i="0">
                <a:solidFill>
                  <a:srgbClr val="B45309"/>
                </a:solidFill>
                <a:latin typeface="Nunito"/>
              </a:rPr>
              <a:t>The Engineer</a:t>
            </a:r>
          </a:p>
        </p:txBody>
      </p:sp>
      <p:sp>
        <p:nvSpPr>
          <p:cNvPr id="31" name="Oval 30"/>
          <p:cNvSpPr/>
          <p:nvPr/>
        </p:nvSpPr>
        <p:spPr>
          <a:xfrm>
            <a:off x="6489700" y="2235200"/>
            <a:ext cx="406400" cy="40640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89700" y="22352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39" b="1" i="0">
                <a:solidFill>
                  <a:srgbClr val="FFFFFF"/>
                </a:solidFill>
                <a:latin typeface="Fredoka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3500" y="4953000"/>
            <a:ext cx="2171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60" b="1" i="0">
                <a:solidFill>
                  <a:srgbClr val="B45309"/>
                </a:solidFill>
                <a:latin typeface="Nunito"/>
              </a:rPr>
              <a:t>Fun fact: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Once redesigned her own bicycle gears for a steeper hill!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91600" y="1968500"/>
            <a:ext cx="2603500" cy="4064000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182100" y="2133600"/>
            <a:ext cx="2222500" cy="1841500"/>
          </a:xfrm>
          <a:prstGeom prst="roundRect">
            <a:avLst>
              <a:gd name="adj" fmla="val 8965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bo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941" y="2222500"/>
            <a:ext cx="1410817" cy="16637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82100" y="41148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 i="0">
                <a:solidFill>
                  <a:srgbClr val="0F172A"/>
                </a:solidFill>
                <a:latin typeface="Fredoka"/>
              </a:rPr>
              <a:t>Matthew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7050" y="4521200"/>
            <a:ext cx="1752600" cy="2540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417050" y="4521200"/>
            <a:ext cx="1752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40" b="1" i="0">
                <a:solidFill>
                  <a:srgbClr val="DC2626"/>
                </a:solidFill>
                <a:latin typeface="Nunito"/>
              </a:rPr>
              <a:t>The Mathematician</a:t>
            </a:r>
          </a:p>
        </p:txBody>
      </p:sp>
      <p:sp>
        <p:nvSpPr>
          <p:cNvPr id="40" name="Oval 39"/>
          <p:cNvSpPr/>
          <p:nvPr/>
        </p:nvSpPr>
        <p:spPr>
          <a:xfrm>
            <a:off x="9283700" y="2235200"/>
            <a:ext cx="406400" cy="4064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83700" y="22352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39" b="1" i="0">
                <a:solidFill>
                  <a:srgbClr val="FFFFFF"/>
                </a:solidFill>
                <a:latin typeface="Fredoka"/>
              </a:rPr>
              <a:t>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7500" y="4953000"/>
            <a:ext cx="21717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60" b="1" i="0">
                <a:solidFill>
                  <a:srgbClr val="DC2626"/>
                </a:solidFill>
                <a:latin typeface="Nunito"/>
              </a:rPr>
              <a:t>Fun fact: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Can do square roots faster than a calculator (he says).</a:t>
            </a:r>
          </a:p>
        </p:txBody>
      </p:sp>
      <p:pic>
        <p:nvPicPr>
          <p:cNvPr id="43" name="Picture 42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28905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2890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LESSON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How every lesson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Each lesson is a story-led journey of short activities, and every step earns rewards.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79600"/>
            <a:ext cx="20193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300" y="2044700"/>
            <a:ext cx="355600" cy="355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300" y="20447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6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500" y="204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Intro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300" y="2501900"/>
            <a:ext cx="762000" cy="21590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300" y="2501900"/>
            <a:ext cx="762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" b="1" i="0">
                <a:solidFill>
                  <a:srgbClr val="EC4899"/>
                </a:solidFill>
                <a:latin typeface="Nunito"/>
              </a:rPr>
              <a:t>50 Atoms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4300" y="2260600"/>
            <a:ext cx="152400" cy="190500"/>
          </a:xfrm>
          <a:prstGeom prst="rightArrow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2100" y="1879600"/>
            <a:ext cx="20193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971800" y="2044700"/>
            <a:ext cx="355600" cy="3556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71800" y="20447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6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4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Video Lesson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2501900"/>
            <a:ext cx="1492250" cy="215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71800" y="2501900"/>
            <a:ext cx="14922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" b="1" i="0">
                <a:solidFill>
                  <a:srgbClr val="0284C7"/>
                </a:solidFill>
                <a:latin typeface="Nunito"/>
              </a:rPr>
              <a:t>200 XP + 100 Atoms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76800" y="2260600"/>
            <a:ext cx="152400" cy="190500"/>
          </a:xfrm>
          <a:prstGeom prst="rightArrow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54600" y="1879600"/>
            <a:ext cx="20193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194300" y="20447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94300" y="20447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6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1500" y="204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Quiz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94300" y="2501900"/>
            <a:ext cx="1638300" cy="215900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94300" y="2501900"/>
            <a:ext cx="16383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" b="1" i="0">
                <a:solidFill>
                  <a:srgbClr val="F59E0B"/>
                </a:solidFill>
                <a:latin typeface="Nunito"/>
              </a:rPr>
              <a:t>50–100 XP + 25 Atoms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99300" y="2260600"/>
            <a:ext cx="152400" cy="190500"/>
          </a:xfrm>
          <a:prstGeom prst="rightArrow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7100" y="1879600"/>
            <a:ext cx="20193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16800" y="2044700"/>
            <a:ext cx="355600" cy="355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16800" y="20447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6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4000" y="204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Game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16800" y="2501900"/>
            <a:ext cx="1492250" cy="2159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16800" y="2501900"/>
            <a:ext cx="14922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" b="1" i="0">
                <a:solidFill>
                  <a:srgbClr val="7C3AED"/>
                </a:solidFill>
                <a:latin typeface="Nunito"/>
              </a:rPr>
              <a:t>500 XP + 300 Atoms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321800" y="2260600"/>
            <a:ext cx="152400" cy="190500"/>
          </a:xfrm>
          <a:prstGeom prst="rightArrow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99600" y="1879600"/>
            <a:ext cx="2019300" cy="9525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639300" y="2044700"/>
            <a:ext cx="355600" cy="35560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39300" y="20447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6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500" y="204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Exit Card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39300" y="2501900"/>
            <a:ext cx="1416050" cy="215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639300" y="2501900"/>
            <a:ext cx="14160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60" b="1" i="0">
                <a:solidFill>
                  <a:srgbClr val="475569"/>
                </a:solidFill>
                <a:latin typeface="Nunito"/>
              </a:rPr>
              <a:t>100 XP + 50 Atoms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7707" y="3086100"/>
            <a:ext cx="2659784" cy="3175000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vide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07" y="3162300"/>
            <a:ext cx="2507384" cy="30226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829607" y="3086100"/>
            <a:ext cx="2659784" cy="3175000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qui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807" y="3162300"/>
            <a:ext cx="2507384" cy="30226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191500" y="3086100"/>
            <a:ext cx="3390900" cy="3111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94700" y="32512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Fredoka"/>
              </a:rPr>
              <a:t>Built-in 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700" y="3619500"/>
            <a:ext cx="3048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STEMbot dialogue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introduces every video, quiz and game.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20" b="1" i="0">
                <a:solidFill>
                  <a:srgbClr val="0F172A"/>
                </a:solidFill>
                <a:latin typeface="Nunito"/>
              </a:rPr>
              <a:t>Instant quiz feedback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explains why each answer is right.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20" b="1" i="0">
                <a:solidFill>
                  <a:srgbClr val="0F172A"/>
                </a:solidFill>
                <a:latin typeface="Nunito"/>
              </a:rPr>
              <a:t>Ask STEMbots: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a help panel where children can ask questions about the lesson they're on.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20" b="1" i="0">
                <a:solidFill>
                  <a:srgbClr val="0F172A"/>
                </a:solidFill>
                <a:latin typeface="Nunito"/>
              </a:rPr>
              <a:t>Exit cards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(3 things learnt, 2 facts, 1 question) build reflection habits.</a:t>
            </a:r>
          </a:p>
        </p:txBody>
      </p:sp>
      <p:pic>
        <p:nvPicPr>
          <p:cNvPr id="48" name="Picture 47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51765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5176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OUR FIRST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STEM x Games: 3 lessons, 29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Primary-school science and maths, taught through three games children already 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3530600" cy="3365500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09600" y="1905000"/>
            <a:ext cx="3530600" cy="749300"/>
          </a:xfrm>
          <a:prstGeom prst="roundRect">
            <a:avLst>
              <a:gd name="adj" fmla="val 27118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09600" y="2286000"/>
            <a:ext cx="3530600" cy="368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2800" y="20193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DDD6FE"/>
                </a:solidFill>
                <a:latin typeface="Nunito"/>
              </a:rPr>
              <a:t>LESSON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971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80" b="1" i="0">
                <a:solidFill>
                  <a:srgbClr val="FFFFFF"/>
                </a:solidFill>
                <a:latin typeface="Fredoka"/>
              </a:rPr>
              <a:t>Minecraft Masterminds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819400"/>
            <a:ext cx="225425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2819400"/>
            <a:ext cx="22542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1" i="0">
                <a:solidFill>
                  <a:srgbClr val="7C3AED"/>
                </a:solidFill>
                <a:latin typeface="Nunito"/>
              </a:rPr>
              <a:t>Played through Minecraft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162300"/>
            <a:ext cx="31242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Explore biomes to see how matter and water cycle, then build rooms to spec.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708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059669"/>
                </a:solidFill>
                <a:latin typeface="Nunito"/>
              </a:rPr>
              <a:t>SCIENCE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3924300"/>
            <a:ext cx="14414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2800" y="3924300"/>
            <a:ext cx="1441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Cycles in 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17750" y="3924300"/>
            <a:ext cx="13652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17750" y="3924300"/>
            <a:ext cx="1365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Cycles in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3053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0284C7"/>
                </a:solidFill>
                <a:latin typeface="Nunito"/>
              </a:rPr>
              <a:t>MATHEMATICS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800" y="4521200"/>
            <a:ext cx="5080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800" y="45212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Area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84300" y="452120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4300" y="45212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4902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3F6212"/>
                </a:solidFill>
                <a:latin typeface="Fredoka"/>
              </a:rPr>
              <a:t>P5–P6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9600" y="49276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12 activities · 2 games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1905000"/>
            <a:ext cx="3530600" cy="3365500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343400" y="1905000"/>
            <a:ext cx="3530600" cy="749300"/>
          </a:xfrm>
          <a:prstGeom prst="roundRect">
            <a:avLst>
              <a:gd name="adj" fmla="val 27118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343400" y="2286000"/>
            <a:ext cx="3530600" cy="368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46600" y="20193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DDD6FE"/>
                </a:solidFill>
                <a:latin typeface="Nunito"/>
              </a:rPr>
              <a:t>LESSON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6600" y="21971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80" b="1" i="0">
                <a:solidFill>
                  <a:srgbClr val="FFFFFF"/>
                </a:solidFill>
                <a:latin typeface="Fredoka"/>
              </a:rPr>
              <a:t>Mission Millionaire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6600" y="2819400"/>
            <a:ext cx="21717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46600" y="2819400"/>
            <a:ext cx="21717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1" i="0">
                <a:solidFill>
                  <a:srgbClr val="7C3AED"/>
                </a:solidFill>
                <a:latin typeface="Nunito"/>
              </a:rPr>
              <a:t>Played through Monopoly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6600" y="3162300"/>
            <a:ext cx="31242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Manage money like a property tycoon: rent, salaries, GST and shop discounts.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6600" y="3708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0284C7"/>
                </a:solidFill>
                <a:latin typeface="Nunito"/>
              </a:rPr>
              <a:t>MATHEMATICS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6600" y="3924300"/>
            <a:ext cx="81915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46600" y="3924300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Decimals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9250" y="3924300"/>
            <a:ext cx="23749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29250" y="3924300"/>
            <a:ext cx="2374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Percentages, GST &amp; Discounts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6600" y="4902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3F6212"/>
                </a:solidFill>
                <a:latin typeface="Fredoka"/>
              </a:rPr>
              <a:t>P4–P6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3400" y="49276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7 activities · 1 game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77200" y="1905000"/>
            <a:ext cx="3530600" cy="3365500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8077200" y="1905000"/>
            <a:ext cx="3530600" cy="749300"/>
          </a:xfrm>
          <a:prstGeom prst="roundRect">
            <a:avLst>
              <a:gd name="adj" fmla="val 27118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077200" y="2286000"/>
            <a:ext cx="3530600" cy="368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80400" y="20193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DDD6FE"/>
                </a:solidFill>
                <a:latin typeface="Nunito"/>
              </a:rPr>
              <a:t>LESSON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0400" y="21971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80" b="1" i="0">
                <a:solidFill>
                  <a:srgbClr val="FFFFFF"/>
                </a:solidFill>
                <a:latin typeface="Fredoka"/>
              </a:rPr>
              <a:t>Space Busters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80400" y="2819400"/>
            <a:ext cx="21717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80400" y="2819400"/>
            <a:ext cx="21717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1" i="0">
                <a:solidFill>
                  <a:srgbClr val="7C3AED"/>
                </a:solidFill>
                <a:latin typeface="Nunito"/>
              </a:rPr>
              <a:t>Played through Among 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0400" y="3162300"/>
            <a:ext cx="31242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Restore a spaceship's power with energy and forces, and fix its systems with BODMAS.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0400" y="3708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059669"/>
                </a:solidFill>
                <a:latin typeface="Nunito"/>
              </a:rPr>
              <a:t>SCIENCE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80400" y="392430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80400" y="39243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Energy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10650" y="392430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10650" y="39243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Forces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400" y="43053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0284C7"/>
                </a:solidFill>
                <a:latin typeface="Nunito"/>
              </a:rPr>
              <a:t>MATHEMATICS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80400" y="4521200"/>
            <a:ext cx="23749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80400" y="4521200"/>
            <a:ext cx="23749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Order of Operations (BODMAS)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0400" y="4902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3F6212"/>
                </a:solidFill>
                <a:latin typeface="Fredoka"/>
              </a:rPr>
              <a:t>P5–P6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7200" y="492760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40" b="0" i="0">
                <a:solidFill>
                  <a:srgbClr val="475569"/>
                </a:solidFill>
                <a:latin typeface="Nunito"/>
              </a:rPr>
              <a:t>10 activities · 2 games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9600" y="5435600"/>
            <a:ext cx="10972800" cy="762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63600" y="553085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Fredoka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97000" y="5530850"/>
            <a:ext cx="152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0F172A"/>
                </a:solidFill>
                <a:latin typeface="Nunito"/>
              </a:rPr>
              <a:t>video lessons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22600" y="553085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Fredoka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56000" y="5530850"/>
            <a:ext cx="152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0F172A"/>
                </a:solidFill>
                <a:latin typeface="Nunito"/>
              </a:rPr>
              <a:t>quizzes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1600" y="553085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Fredoka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5000" y="5530850"/>
            <a:ext cx="152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0F172A"/>
                </a:solidFill>
                <a:latin typeface="Nunito"/>
              </a:rPr>
              <a:t>games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40600" y="553085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Fredoka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74000" y="5530850"/>
            <a:ext cx="152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0F172A"/>
                </a:solidFill>
                <a:latin typeface="Nunito"/>
              </a:rPr>
              <a:t>intro stories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99600" y="553085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7C3AED"/>
                </a:solidFill>
                <a:latin typeface="Fredoka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33000" y="5530850"/>
            <a:ext cx="152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9" b="1" i="0">
                <a:solidFill>
                  <a:srgbClr val="0F172A"/>
                </a:solidFill>
                <a:latin typeface="Nunito"/>
              </a:rPr>
              <a:t>exit cards</a:t>
            </a:r>
          </a:p>
        </p:txBody>
      </p:sp>
      <p:pic>
        <p:nvPicPr>
          <p:cNvPr id="71" name="Picture 7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8288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82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LESSON 1 · MINECRAFT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Minecraft Masterminds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Matter and water cycles, plus area and volume, through Minecraft biomes and builds.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4445000" cy="4381500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2095500"/>
            <a:ext cx="8191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2095500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413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Cycles in Matter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states of matter, video + 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67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Cycles in Water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the water cycle, video + quiz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009900"/>
            <a:ext cx="11303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3009900"/>
            <a:ext cx="1130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MATHEMATICS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3274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Area (Length × Width)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video +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5814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Volume (L × W × H)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video + 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392430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2800" y="39243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241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Water Cycle Biome Lab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balance temperature &amp; rainfall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495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Minecraft Room Designer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build rooms to spec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346700"/>
            <a:ext cx="4038600" cy="787400"/>
          </a:xfrm>
          <a:prstGeom prst="roundRect">
            <a:avLst>
              <a:gd name="adj" fmla="val 16129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2500" y="54229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A16207"/>
                </a:solidFill>
                <a:latin typeface="Nunito"/>
              </a:rPr>
              <a:t>Sample quiz question</a:t>
            </a:r>
          </a:p>
          <a:p>
            <a:pPr algn="l">
              <a:lnSpc>
                <a:spcPct val="110000"/>
              </a:lnSpc>
            </a:pPr>
            <a:r>
              <a:rPr sz="1260" b="0" i="0">
                <a:solidFill>
                  <a:srgbClr val="713F12"/>
                </a:solidFill>
                <a:latin typeface="Nunito"/>
              </a:rPr>
              <a:t>You want a 7 × 5 block floor in your Minecraft house. How many blocks do you need?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0500" y="2368289"/>
            <a:ext cx="3092450" cy="3454921"/>
          </a:xfrm>
          <a:prstGeom prst="roundRect">
            <a:avLst>
              <a:gd name="adj" fmla="val 4928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mm_in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0" y="2444489"/>
            <a:ext cx="2940050" cy="330252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489950" y="2428701"/>
            <a:ext cx="3092450" cy="3334097"/>
          </a:xfrm>
          <a:prstGeom prst="roundRect">
            <a:avLst>
              <a:gd name="adj" fmla="val 4928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sim_wa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150" y="2504901"/>
            <a:ext cx="2940050" cy="3181697"/>
          </a:xfrm>
          <a:prstGeom prst="rect">
            <a:avLst/>
          </a:prstGeom>
        </p:spPr>
      </p:pic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7526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752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LESSON 2 · MONOPOLY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Mission Millionaire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Budgeting, GST and discounts, as Timothy helps manage a property empire at family board-game night.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4445000" cy="4381500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2095500"/>
            <a:ext cx="11303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2095500"/>
            <a:ext cx="1130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413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Addition &amp; Subtraction with Decimals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P4–P5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67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Percentages, Taxes &amp; Discounts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P5–P6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009900"/>
            <a:ext cx="584200" cy="2286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3009900"/>
            <a:ext cx="584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3274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Singapore-themed Monopoly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budgeting in real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3670300"/>
            <a:ext cx="58420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" y="3670300"/>
            <a:ext cx="584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475569"/>
                </a:solidFill>
                <a:latin typeface="Nunito"/>
              </a:rPr>
              <a:t>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987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Intro story, 2 quizzes and an exit card</a:t>
            </a:r>
            <a:r>
              <a:rPr sz="1140" b="0" i="0">
                <a:solidFill>
                  <a:srgbClr val="475569"/>
                </a:solidFill>
                <a:latin typeface="Nunito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5346700"/>
            <a:ext cx="4038600" cy="787400"/>
          </a:xfrm>
          <a:prstGeom prst="roundRect">
            <a:avLst>
              <a:gd name="adj" fmla="val 16129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2500" y="54229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A16207"/>
                </a:solidFill>
                <a:latin typeface="Nunito"/>
              </a:rPr>
              <a:t>Sample quiz question</a:t>
            </a:r>
          </a:p>
          <a:p>
            <a:pPr algn="l">
              <a:lnSpc>
                <a:spcPct val="110000"/>
              </a:lnSpc>
            </a:pPr>
            <a:r>
              <a:rPr sz="1260" b="0" i="0">
                <a:solidFill>
                  <a:srgbClr val="713F12"/>
                </a:solidFill>
                <a:latin typeface="Nunito"/>
              </a:rPr>
              <a:t>An item costs $50 with a 20% discount. What's the sale price?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70500" y="2517316"/>
            <a:ext cx="6311900" cy="3156867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l2_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0" y="2593516"/>
            <a:ext cx="6159500" cy="3004467"/>
          </a:xfrm>
          <a:prstGeom prst="rect">
            <a:avLst/>
          </a:prstGeom>
        </p:spPr>
      </p:pic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7526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752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LESSON 3 · AMONG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Space Busters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The crew's spaceship has lost power. Can students restore the engines before the impostor strikes?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4445000" cy="4381500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2095500"/>
            <a:ext cx="81915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2095500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413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Energy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kinetic vs potential, P6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670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Forces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push, pull, thrust &amp; gravity, P6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009900"/>
            <a:ext cx="11303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3009900"/>
            <a:ext cx="1130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MATHEMATICS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3274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Order of Operations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BODMAS, P5–P6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3670300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" y="36703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GAMES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987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Launching a Spaceship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balance energy &amp; forces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241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Among Us Tasks as BODMAS</a:t>
            </a:r>
            <a:r>
              <a:rPr sz="1140" b="0" i="0">
                <a:solidFill>
                  <a:srgbClr val="475569"/>
                </a:solidFill>
                <a:latin typeface="Nunito"/>
              </a:rPr>
              <a:t>  tasks as sums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5346700"/>
            <a:ext cx="4038600" cy="787400"/>
          </a:xfrm>
          <a:prstGeom prst="roundRect">
            <a:avLst>
              <a:gd name="adj" fmla="val 16129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2500" y="54229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A16207"/>
                </a:solidFill>
                <a:latin typeface="Nunito"/>
              </a:rPr>
              <a:t>Sample quiz question</a:t>
            </a:r>
          </a:p>
          <a:p>
            <a:pPr algn="l">
              <a:lnSpc>
                <a:spcPct val="110000"/>
              </a:lnSpc>
            </a:pPr>
            <a:r>
              <a:rPr sz="1260" b="0" i="0">
                <a:solidFill>
                  <a:srgbClr val="713F12"/>
                </a:solidFill>
                <a:latin typeface="Nunito"/>
              </a:rPr>
              <a:t>What is 4 + 2 × (6 − 3)?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0500" y="2517316"/>
            <a:ext cx="6311900" cy="3156867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l3_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0" y="2593516"/>
            <a:ext cx="6159500" cy="3004467"/>
          </a:xfrm>
          <a:prstGeom prst="rect">
            <a:avLst/>
          </a:prstGeom>
        </p:spPr>
      </p:pic>
      <p:pic>
        <p:nvPicPr>
          <p:cNvPr id="23" name="Picture 2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828800" cy="2540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8288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7C3AED"/>
                </a:solidFill>
                <a:latin typeface="Nunito"/>
              </a:rPr>
              <a:t>FEATURE · MINI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Hands-on games in every lesson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Children learn by doing: sliders, builds and challenges that respond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850" y="1905000"/>
            <a:ext cx="3297498" cy="3556000"/>
          </a:xfrm>
          <a:prstGeom prst="roundRect">
            <a:avLst>
              <a:gd name="adj" fmla="val 4621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im_wa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0" y="1981200"/>
            <a:ext cx="3145098" cy="3403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71579" y="1905000"/>
            <a:ext cx="2975840" cy="3556000"/>
          </a:xfrm>
          <a:prstGeom prst="roundRect">
            <a:avLst>
              <a:gd name="adj" fmla="val 5121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im_roo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779" y="1981200"/>
            <a:ext cx="2823440" cy="3403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91500" y="1905000"/>
            <a:ext cx="3390900" cy="4318000"/>
          </a:xfrm>
          <a:prstGeom prst="roundRect">
            <a:avLst>
              <a:gd name="adj" fmla="val 524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369300" y="2095500"/>
            <a:ext cx="63500" cy="254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34400" y="2070100"/>
            <a:ext cx="2882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Fredoka"/>
              </a:rPr>
              <a:t>The Games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700" y="2476500"/>
            <a:ext cx="2984500" cy="361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 Every game in one place: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each lesson's games are collected on a single page.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 Unlocked by learning: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a game unlocks once its lesson is completed.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 Replay for a top-up: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play again anytime for +10 XP and +5 Atoms.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20" b="1" i="0">
                <a:solidFill>
                  <a:srgbClr val="0F172A"/>
                </a:solidFill>
                <a:latin typeface="Nunito"/>
              </a:rPr>
              <a:t>•  Worth the most: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each first-time game win earns 500 XP + 300 Atoms.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588000"/>
            <a:ext cx="73279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Nunito"/>
              </a:rPr>
              <a:t>Water Cycle Biome Lab: </a:t>
            </a:r>
            <a:r>
              <a:rPr sz="1200" b="0" i="0">
                <a:solidFill>
                  <a:srgbClr val="475569"/>
                </a:solidFill>
                <a:latin typeface="Nunito"/>
              </a:rPr>
              <a:t>keep a forest biome alive by balancing temperature and rainfall.   </a:t>
            </a:r>
            <a:r>
              <a:rPr sz="1200" b="1" i="0">
                <a:solidFill>
                  <a:srgbClr val="0F172A"/>
                </a:solidFill>
                <a:latin typeface="Nunito"/>
              </a:rPr>
              <a:t>Minecraft Room Designer: </a:t>
            </a:r>
            <a:r>
              <a:rPr sz="1200" b="0" i="0">
                <a:solidFill>
                  <a:srgbClr val="475569"/>
                </a:solidFill>
                <a:latin typeface="Nunito"/>
              </a:rPr>
              <a:t>build rooms that meet area and volume targets.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911350" cy="254000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9113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A16207"/>
                </a:solidFill>
                <a:latin typeface="Nunito"/>
              </a:rPr>
              <a:t>FEATURE · CARD ALBUMS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Collect 30 STEM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Atoms earned from lessons open card packs, and every card teaches something new.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84446"/>
            <a:ext cx="4445000" cy="2581107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ack_reveal_fi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0646"/>
            <a:ext cx="4292600" cy="24287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531470" y="4635500"/>
            <a:ext cx="2601258" cy="1587499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pack_reveal_phe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970" y="4699000"/>
            <a:ext cx="2474258" cy="14604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245100" y="1862666"/>
            <a:ext cx="1905000" cy="2497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ard_fro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600" y="1926166"/>
            <a:ext cx="1778000" cy="23706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77100" y="1892300"/>
            <a:ext cx="1905000" cy="24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ard_bac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600" y="1955800"/>
            <a:ext cx="1778000" cy="2311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45100" y="44450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40" b="1" i="0">
                <a:solidFill>
                  <a:srgbClr val="3F6212"/>
                </a:solidFill>
                <a:latin typeface="Nunito"/>
              </a:rPr>
              <a:t>Tap any card to flip it and learn why it matters.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5100" y="4762500"/>
            <a:ext cx="3937000" cy="146050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35600" y="4889500"/>
            <a:ext cx="3619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60" b="1" i="0">
                <a:solidFill>
                  <a:srgbClr val="0F172A"/>
                </a:solidFill>
                <a:latin typeface="Nunito"/>
              </a:rPr>
              <a:t>Phenomena Album: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16 cards on everyday wonders, e.g. “Why do volcanoes erupt?”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60" b="1" i="0">
                <a:solidFill>
                  <a:srgbClr val="0F172A"/>
                </a:solidFill>
                <a:latin typeface="Nunito"/>
              </a:rPr>
              <a:t>Figures Album: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14 STEM heroes, from Marie Curie and Katherine Johnson to Alan Turing.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41500"/>
            <a:ext cx="2209800" cy="4381500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550400" y="2032000"/>
            <a:ext cx="63500" cy="254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15500" y="2006600"/>
            <a:ext cx="1701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5800" y="2413000"/>
            <a:ext cx="1803400" cy="368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60" b="1" i="0">
                <a:solidFill>
                  <a:srgbClr val="F59E0B"/>
                </a:solidFill>
                <a:latin typeface="Nunito"/>
              </a:rPr>
              <a:t>• 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Spend Atoms on packs (50–150 Atoms each)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60" b="1" i="0">
                <a:solidFill>
                  <a:srgbClr val="F59E0B"/>
                </a:solidFill>
                <a:latin typeface="Nunito"/>
              </a:rPr>
              <a:t>• 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Tap and hold to unlock, with confetti!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60" b="1" i="0">
                <a:solidFill>
                  <a:srgbClr val="F59E0B"/>
                </a:solidFill>
                <a:latin typeface="Nunito"/>
              </a:rPr>
              <a:t>• 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Rarities: Common, Rare, Epic, Legendary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260" b="1" i="0">
                <a:solidFill>
                  <a:srgbClr val="F59E0B"/>
                </a:solidFill>
                <a:latin typeface="Nunito"/>
              </a:rPr>
              <a:t>• 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Duplicates stack (x2, x3…) and can be traded with friends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2222500" cy="2540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284C7"/>
                </a:solidFill>
                <a:latin typeface="Nunito"/>
              </a:rPr>
              <a:t>FEATURE · FRIENDS &amp; CHATS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Learning is better with friends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A friendly, Discord-style space to chat, trade cards and team up for games.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2641"/>
            <a:ext cx="6985000" cy="3921717"/>
          </a:xfrm>
          <a:prstGeom prst="roundRect">
            <a:avLst>
              <a:gd name="adj" fmla="val 3886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riends_c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88841"/>
            <a:ext cx="6832600" cy="376931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0500" y="1905000"/>
            <a:ext cx="3771900" cy="25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988300" y="2095500"/>
            <a:ext cx="63500" cy="254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53400" y="2070100"/>
            <a:ext cx="3263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Fredoka"/>
              </a:rPr>
              <a:t>What children can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3700" y="2476500"/>
            <a:ext cx="33655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20" b="1" i="0">
                <a:solidFill>
                  <a:srgbClr val="0284C7"/>
                </a:solidFill>
                <a:latin typeface="Nunito"/>
              </a:rPr>
              <a:t>• 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Group chats (e.g. “STEM Squad”) and 1-to-1 messages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20" b="1" i="0">
                <a:solidFill>
                  <a:srgbClr val="0284C7"/>
                </a:solidFill>
                <a:latin typeface="Nunito"/>
              </a:rPr>
              <a:t>• 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Add friends by username, or from the leaderboard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20" b="1" i="0">
                <a:solidFill>
                  <a:srgbClr val="0284C7"/>
                </a:solidFill>
                <a:latin typeface="Nunito"/>
              </a:rPr>
              <a:t>• 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Trade collectible cards with friends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20" b="1" i="0">
                <a:solidFill>
                  <a:srgbClr val="0284C7"/>
                </a:solidFill>
                <a:latin typeface="Nunito"/>
              </a:rPr>
              <a:t>•  </a:t>
            </a:r>
            <a:r>
              <a:rPr sz="1320" b="0" i="0">
                <a:solidFill>
                  <a:srgbClr val="475569"/>
                </a:solidFill>
                <a:latin typeface="Nunito"/>
              </a:rPr>
              <a:t>Challenge friends with “Play Together”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0500" y="4597400"/>
            <a:ext cx="3771900" cy="1244600"/>
          </a:xfrm>
          <a:prstGeom prst="roundRect">
            <a:avLst>
              <a:gd name="adj" fmla="val 14285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13700" y="4724400"/>
            <a:ext cx="3429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16207"/>
                </a:solidFill>
                <a:latin typeface="Nunito"/>
              </a:rPr>
              <a:t>Preview feature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13F12"/>
                </a:solidFill>
                <a:latin typeface="Nunito"/>
              </a:rPr>
              <a:t>The social tab works on-device today. Linking it to a live, moderated multiplayer service is our next milestone.</a:t>
            </a:r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2762250" cy="254000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27622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A16207"/>
                </a:solidFill>
                <a:latin typeface="Nunito"/>
              </a:rPr>
              <a:t>FEATURE · LEADERBOARDS &amp;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Friendly competition, real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XP turns effort into levels, rankings, badges and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285841"/>
            <a:ext cx="3556000" cy="3619817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eader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2041"/>
            <a:ext cx="3403600" cy="346741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81500" y="2530475"/>
            <a:ext cx="3556000" cy="3130549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leve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606675"/>
            <a:ext cx="3403600" cy="297814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10909" y="1905000"/>
            <a:ext cx="3313981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ertifica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409" y="1968500"/>
            <a:ext cx="3186981" cy="2413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53400" y="4597400"/>
            <a:ext cx="3429000" cy="16891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43900" y="4724400"/>
            <a:ext cx="3111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60" b="1" i="0">
                <a:solidFill>
                  <a:srgbClr val="0F172A"/>
                </a:solidFill>
                <a:latin typeface="Nunito"/>
              </a:rPr>
              <a:t>Leaderboard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ranks learners by total XP.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60" b="1" i="0">
                <a:solidFill>
                  <a:srgbClr val="0F172A"/>
                </a:solidFill>
                <a:latin typeface="Nunito"/>
              </a:rPr>
              <a:t>10 levels,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from Curious Newbie to Grandmaster Explorer.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60" b="1" i="0">
                <a:solidFill>
                  <a:srgbClr val="0F172A"/>
                </a:solidFill>
                <a:latin typeface="Nunito"/>
              </a:rPr>
              <a:t>Certificates: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finishing a module unlocks a badge and a printable certificate.</a:t>
            </a:r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2139950" cy="2540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213995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059669"/>
                </a:solidFill>
                <a:latin typeface="Nunito"/>
              </a:rPr>
              <a:t>FEATURE · GALLERY &amp;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Reflect, share and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Children publish what they've learnt and get help without leaving the lesson.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121160"/>
            <a:ext cx="3302000" cy="3949178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xit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7360"/>
            <a:ext cx="3149600" cy="379677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27500" y="1984663"/>
            <a:ext cx="3302000" cy="3015672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gallery_refle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2060863"/>
            <a:ext cx="3149600" cy="2863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30772" y="1905000"/>
            <a:ext cx="1734255" cy="4381500"/>
          </a:xfrm>
          <a:prstGeom prst="roundRect">
            <a:avLst>
              <a:gd name="adj" fmla="val 878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s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272" y="1968500"/>
            <a:ext cx="1607255" cy="42545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27500" y="5207000"/>
            <a:ext cx="3302000" cy="107950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2600" y="5308600"/>
            <a:ext cx="2984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60" b="1" i="0">
                <a:solidFill>
                  <a:srgbClr val="0F172A"/>
                </a:solidFill>
                <a:latin typeface="Nunito"/>
              </a:rPr>
              <a:t>Gallery: </a:t>
            </a:r>
            <a:r>
              <a:rPr sz="1260" b="0" i="0">
                <a:solidFill>
                  <a:srgbClr val="475569"/>
                </a:solidFill>
                <a:latin typeface="Nunito"/>
              </a:rPr>
              <a:t>every exit-card reflection is published as a post that classmates can like.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40900" y="1905000"/>
            <a:ext cx="1841500" cy="4381500"/>
          </a:xfrm>
          <a:prstGeom prst="roundRect">
            <a:avLst>
              <a:gd name="adj" fmla="val 896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06000" y="2070100"/>
            <a:ext cx="1524000" cy="40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0F172A"/>
                </a:solidFill>
                <a:latin typeface="Fredoka"/>
              </a:rPr>
              <a:t>Ask STEMbots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0">
                <a:solidFill>
                  <a:srgbClr val="475569"/>
                </a:solidFill>
                <a:latin typeface="Nunito"/>
              </a:rPr>
              <a:t>A help panel in every lesson. Children can type a question or tap a prompt like “I'm stuck, can you help?”, and a STEMbot replies with a short, age-appropriate answer.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222250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FOR PARTNER ORGANISATIONS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Designed with your centre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Getting a class started takes minutes, and every child's progress is saved.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5207000" cy="4381500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8200" y="20955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Fredoka"/>
              </a:rPr>
              <a:t>Centres already on the sign-up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540000"/>
            <a:ext cx="201295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8200" y="2540000"/>
            <a:ext cx="20129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Brighton Connection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7350" y="2540000"/>
            <a:ext cx="182880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27350" y="2540000"/>
            <a:ext cx="1828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Caritas Singapore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32350" y="2540000"/>
            <a:ext cx="64135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32350" y="2540000"/>
            <a:ext cx="6413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CDAC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2933700"/>
            <a:ext cx="109855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2933700"/>
            <a:ext cx="1098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Faithacts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2950" y="2933700"/>
            <a:ext cx="210820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2950" y="2933700"/>
            <a:ext cx="210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New Life Care Centre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3327400"/>
            <a:ext cx="238125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200" y="3327400"/>
            <a:ext cx="23812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Sheng Hong Student Care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5650" y="3327400"/>
            <a:ext cx="1651000" cy="3048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295650" y="3327400"/>
            <a:ext cx="165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6212"/>
                </a:solidFill>
                <a:latin typeface="Nunito"/>
              </a:rPr>
              <a:t>VIVA Foundation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200" y="3721100"/>
            <a:ext cx="2565400" cy="3048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8200" y="3721100"/>
            <a:ext cx="256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7C3AED"/>
                </a:solidFill>
                <a:latin typeface="Nunito"/>
              </a:rPr>
              <a:t>+ Others (please specify)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2926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Children choose their centre when they create an account, so partners can see their own learners on the platform.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80" b="1" i="0">
                <a:solidFill>
                  <a:srgbClr val="0F172A"/>
                </a:solidFill>
                <a:latin typeface="Nunito"/>
              </a:rPr>
              <a:t>New centre? </a:t>
            </a:r>
            <a:r>
              <a:rPr sz="1380" b="0" i="0">
                <a:solidFill>
                  <a:srgbClr val="475569"/>
                </a:solidFill>
                <a:latin typeface="Nunito"/>
              </a:rPr>
              <a:t>It can be added straight from the sign-up form.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2500" y="1905000"/>
            <a:ext cx="5549900" cy="1003300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197600" y="2082800"/>
            <a:ext cx="635000" cy="635000"/>
          </a:xfrm>
          <a:prstGeom prst="roundRect">
            <a:avLst>
              <a:gd name="adj" fmla="val 26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7600" y="2082800"/>
            <a:ext cx="63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3F6212"/>
                </a:solidFill>
                <a:latin typeface="Fredoka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5000" y="20574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Child-friendly 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5000" y="23368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Nunito"/>
              </a:rPr>
              <a:t>Username + 4-digit PIN. No email needed. PINs are securely hashed, never stored as plain 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2500" y="3022600"/>
            <a:ext cx="5549900" cy="1003300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197600" y="3200400"/>
            <a:ext cx="635000" cy="635000"/>
          </a:xfrm>
          <a:prstGeom prst="roundRect">
            <a:avLst>
              <a:gd name="adj" fmla="val 26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97600" y="3200400"/>
            <a:ext cx="63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3F6212"/>
                </a:solidFill>
                <a:latin typeface="Fredoka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5000" y="31750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Easy PIN 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5000" y="34544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Nunito"/>
              </a:rPr>
              <a:t>Children pick a favourite colour and subject as tap-to-choose picture blocks.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2500" y="4140200"/>
            <a:ext cx="5549900" cy="1003300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97600" y="4318000"/>
            <a:ext cx="635000" cy="635000"/>
          </a:xfrm>
          <a:prstGeom prst="roundRect">
            <a:avLst>
              <a:gd name="adj" fmla="val 26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97600" y="4318000"/>
            <a:ext cx="63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3F6212"/>
                </a:solidFill>
                <a:latin typeface="Fredoka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85000" y="42926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Progress that sticks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5000" y="45720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Nunito"/>
              </a:rPr>
              <a:t>Completed activities, XP and Atoms are saved to each child's account.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2500" y="5257800"/>
            <a:ext cx="5549900" cy="1003300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197600" y="5435600"/>
            <a:ext cx="635000" cy="635000"/>
          </a:xfrm>
          <a:prstGeom prst="roundRect">
            <a:avLst>
              <a:gd name="adj" fmla="val 26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97600" y="5435600"/>
            <a:ext cx="63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79" b="1" i="0">
                <a:solidFill>
                  <a:srgbClr val="3F6212"/>
                </a:solidFill>
                <a:latin typeface="Fredoka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85000" y="54102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20" b="1" i="0">
                <a:solidFill>
                  <a:srgbClr val="0F172A"/>
                </a:solidFill>
                <a:latin typeface="Fredoka"/>
              </a:rPr>
              <a:t>Any device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5000" y="56896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Nunito"/>
              </a:rPr>
              <a:t>Desktop, tablet and mobile, with light and dark modes.</a:t>
            </a:r>
          </a:p>
        </p:txBody>
      </p:sp>
      <p:pic>
        <p:nvPicPr>
          <p:cNvPr id="46" name="Picture 4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06400"/>
            <a:ext cx="1130300" cy="254000"/>
          </a:xfrm>
          <a:prstGeom prst="roundRect">
            <a:avLst>
              <a:gd name="adj" fmla="val 50000"/>
            </a:avLst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406400"/>
            <a:ext cx="11303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47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79" b="1" i="0">
                <a:solidFill>
                  <a:srgbClr val="0F172A"/>
                </a:solidFill>
                <a:latin typeface="Fredoka"/>
              </a:rPr>
              <a:t>Where we're heading,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0" i="0">
                <a:solidFill>
                  <a:srgbClr val="475569"/>
                </a:solidFill>
                <a:latin typeface="Nunito"/>
              </a:rPr>
              <a:t>STEM x Games is just the start. Three more modules are already on the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1778000" cy="15875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o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85" y="2044700"/>
            <a:ext cx="535228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600" y="26289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39" b="1" i="0">
                <a:solidFill>
                  <a:srgbClr val="0F172A"/>
                </a:solidFill>
                <a:latin typeface="Fredoka"/>
              </a:rPr>
              <a:t>STEM x Sports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1400" y="3200400"/>
            <a:ext cx="914400" cy="203200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1400" y="3200400"/>
            <a:ext cx="9144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16207"/>
                </a:solidFill>
                <a:latin typeface="Nunito"/>
              </a:rPr>
              <a:t>COMING 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905000"/>
            <a:ext cx="1778000" cy="15875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bot_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444" y="2044700"/>
            <a:ext cx="50231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41600" y="26289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39" b="1" i="0">
                <a:solidFill>
                  <a:srgbClr val="0F172A"/>
                </a:solidFill>
                <a:latin typeface="Fredoka"/>
              </a:rPr>
              <a:t>STEM x Magic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6400" y="3200400"/>
            <a:ext cx="914400" cy="203200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46400" y="3200400"/>
            <a:ext cx="9144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16207"/>
                </a:solidFill>
                <a:latin typeface="Nunito"/>
              </a:rPr>
              <a:t>COMING SOON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9600" y="1905000"/>
            <a:ext cx="1778000" cy="15875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o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129" y="2044700"/>
            <a:ext cx="516940" cy="609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46600" y="26289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39" b="1" i="0">
                <a:solidFill>
                  <a:srgbClr val="0F172A"/>
                </a:solidFill>
                <a:latin typeface="Fredoka"/>
              </a:rPr>
              <a:t>STEM x Content Creation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1400" y="3200400"/>
            <a:ext cx="914400" cy="203200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51400" y="3200400"/>
            <a:ext cx="9144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16207"/>
                </a:solidFill>
                <a:latin typeface="Nunito"/>
              </a:rPr>
              <a:t>COMING SOON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3683000"/>
            <a:ext cx="5588000" cy="25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EF264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87400" y="3873500"/>
            <a:ext cx="63500" cy="254000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2500" y="38481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Fredoka"/>
              </a:rPr>
              <a:t>On our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4254500"/>
            <a:ext cx="51816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1" i="0">
                <a:solidFill>
                  <a:srgbClr val="65A30D"/>
                </a:solidFill>
                <a:latin typeface="Nunito"/>
              </a:rPr>
              <a:t>•  </a:t>
            </a:r>
            <a:r>
              <a:rPr sz="1380" b="0" i="0">
                <a:solidFill>
                  <a:srgbClr val="475569"/>
                </a:solidFill>
                <a:latin typeface="Nunito"/>
              </a:rPr>
              <a:t>More lessons in STEM x Games, and new modules as they're ready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80" b="1" i="0">
                <a:solidFill>
                  <a:srgbClr val="65A30D"/>
                </a:solidFill>
                <a:latin typeface="Nunito"/>
              </a:rPr>
              <a:t>•  </a:t>
            </a:r>
            <a:r>
              <a:rPr sz="1380" b="0" i="0">
                <a:solidFill>
                  <a:srgbClr val="475569"/>
                </a:solidFill>
                <a:latin typeface="Nunito"/>
              </a:rPr>
              <a:t>Live, moderated chat and multiplayer for the Friends tab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80" b="1" i="0">
                <a:solidFill>
                  <a:srgbClr val="65A30D"/>
                </a:solidFill>
                <a:latin typeface="Nunito"/>
              </a:rPr>
              <a:t>•  </a:t>
            </a:r>
            <a:r>
              <a:rPr sz="1380" b="0" i="0">
                <a:solidFill>
                  <a:srgbClr val="475569"/>
                </a:solidFill>
                <a:latin typeface="Nunito"/>
              </a:rPr>
              <a:t>Centre-level leaderboards and progress views for partners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380" b="1" i="0">
                <a:solidFill>
                  <a:srgbClr val="65A30D"/>
                </a:solidFill>
                <a:latin typeface="Nunito"/>
              </a:rPr>
              <a:t>•  </a:t>
            </a:r>
            <a:r>
              <a:rPr sz="1380" b="0" i="0">
                <a:solidFill>
                  <a:srgbClr val="475569"/>
                </a:solidFill>
                <a:latin typeface="Nunito"/>
              </a:rPr>
              <a:t>Continued in-person STEMulate sessions alongside the platform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3500" y="1905000"/>
            <a:ext cx="5168900" cy="4318000"/>
          </a:xfrm>
          <a:prstGeom prst="roundRect">
            <a:avLst>
              <a:gd name="adj" fmla="val 5294"/>
            </a:avLst>
          </a:prstGeom>
          <a:solidFill>
            <a:srgbClr val="65A30D"/>
          </a:solidFill>
          <a:ln>
            <a:noFill/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31000" y="2159000"/>
            <a:ext cx="457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Fredoka"/>
              </a:rPr>
              <a:t>How you can partner with 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0" y="2794000"/>
            <a:ext cx="4660900" cy="952500"/>
          </a:xfrm>
          <a:prstGeom prst="roundRect">
            <a:avLst>
              <a:gd name="adj" fmla="val 17333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0" y="2933700"/>
            <a:ext cx="431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3F6212"/>
                </a:solidFill>
                <a:latin typeface="Fredoka"/>
              </a:rPr>
              <a:t>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25800"/>
            <a:ext cx="431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60" b="0" i="0">
                <a:solidFill>
                  <a:srgbClr val="475569"/>
                </a:solidFill>
                <a:latin typeface="Nunito"/>
              </a:rPr>
              <a:t>Bring STEMulate Academy to a group of your students for a term.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500" y="3873500"/>
            <a:ext cx="4660900" cy="952500"/>
          </a:xfrm>
          <a:prstGeom prst="roundRect">
            <a:avLst>
              <a:gd name="adj" fmla="val 17333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0" y="4013200"/>
            <a:ext cx="431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3F6212"/>
                </a:solidFill>
                <a:latin typeface="Fredoka"/>
              </a:rPr>
              <a:t>Co-run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305300"/>
            <a:ext cx="431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60" b="0" i="0">
                <a:solidFill>
                  <a:srgbClr val="475569"/>
                </a:solidFill>
                <a:latin typeface="Nunito"/>
              </a:rPr>
              <a:t>Pair our volunteers' in-person workshops with the platform.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500" y="4953000"/>
            <a:ext cx="4660900" cy="952500"/>
          </a:xfrm>
          <a:prstGeom prst="roundRect">
            <a:avLst>
              <a:gd name="adj" fmla="val 17333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58000" y="5092700"/>
            <a:ext cx="431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80" b="1" i="0">
                <a:solidFill>
                  <a:srgbClr val="3F6212"/>
                </a:solidFill>
                <a:latin typeface="Fredoka"/>
              </a:rPr>
              <a:t>Shape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384800"/>
            <a:ext cx="431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60" b="0" i="0">
                <a:solidFill>
                  <a:srgbClr val="475569"/>
                </a:solidFill>
                <a:latin typeface="Nunito"/>
              </a:rPr>
              <a:t>Tell us what your children need, and we'll build it into the next modules.</a:t>
            </a:r>
          </a:p>
        </p:txBody>
      </p:sp>
      <p:pic>
        <p:nvPicPr>
          <p:cNvPr id="37" name="Picture 36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84500" y="1206500"/>
            <a:ext cx="6223000" cy="4445000"/>
          </a:xfrm>
          <a:prstGeom prst="roundRect">
            <a:avLst>
              <a:gd name="adj" fmla="val 6857"/>
            </a:avLst>
          </a:prstGeom>
          <a:solidFill>
            <a:srgbClr val="FFFFFF">
              <a:alpha val="96000"/>
            </a:srgbClr>
          </a:solidFill>
          <a:ln w="25400">
            <a:solidFill>
              <a:srgbClr val="D9F99D"/>
            </a:solidFill>
          </a:ln>
          <a:effectLst>
            <a:outerShdw blurRad="254000" dist="63500" dir="5400000" algn="t" rotWithShape="0">
              <a:srgbClr val="36531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498600"/>
            <a:ext cx="952500" cy="850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84500" y="2476500"/>
            <a:ext cx="622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40" b="1" i="0">
                <a:solidFill>
                  <a:srgbClr val="0F172A"/>
                </a:solidFill>
                <a:latin typeface="Fredoka"/>
              </a:rPr>
              <a:t>Let's STEMulate together!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3175000"/>
            <a:ext cx="508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80" b="0" i="0">
                <a:solidFill>
                  <a:srgbClr val="475569"/>
                </a:solidFill>
                <a:latin typeface="Nunito"/>
              </a:rPr>
              <a:t>Thank you for your time. We'd love to explore how STEMulate Academy can support your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4500" y="4127500"/>
            <a:ext cx="622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80" b="1" i="0">
                <a:solidFill>
                  <a:srgbClr val="65A30D"/>
                </a:solidFill>
                <a:latin typeface="Fredoka"/>
              </a:rPr>
              <a:t>projstemulate.com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4500" y="4559300"/>
            <a:ext cx="622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60" b="0" i="0">
                <a:solidFill>
                  <a:srgbClr val="475569"/>
                </a:solidFill>
                <a:latin typeface="Nunito"/>
              </a:rPr>
              <a:t>Get in touch through the contact page on our website</a:t>
            </a:r>
          </a:p>
        </p:txBody>
      </p:sp>
      <p:pic>
        <p:nvPicPr>
          <p:cNvPr id="9" name="Picture 8" descr="bo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5035915"/>
            <a:ext cx="762000" cy="913669"/>
          </a:xfrm>
          <a:prstGeom prst="rect">
            <a:avLst/>
          </a:prstGeom>
        </p:spPr>
      </p:pic>
      <p:pic>
        <p:nvPicPr>
          <p:cNvPr id="10" name="Picture 9" descr="bo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5058809"/>
            <a:ext cx="762000" cy="867881"/>
          </a:xfrm>
          <a:prstGeom prst="rect">
            <a:avLst/>
          </a:prstGeom>
        </p:spPr>
      </p:pic>
      <p:pic>
        <p:nvPicPr>
          <p:cNvPr id="11" name="Picture 10" descr="bot_c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030371"/>
            <a:ext cx="761999" cy="924757"/>
          </a:xfrm>
          <a:prstGeom prst="rect">
            <a:avLst/>
          </a:prstGeom>
        </p:spPr>
      </p:pic>
      <p:pic>
        <p:nvPicPr>
          <p:cNvPr id="12" name="Picture 11" descr="bo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1500" y="5043457"/>
            <a:ext cx="762000" cy="898584"/>
          </a:xfrm>
          <a:prstGeom prst="rect">
            <a:avLst/>
          </a:prstGeom>
        </p:spPr>
      </p:pic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350000"/>
            <a:ext cx="2540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7100" y="63754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STEMulate Academy  ·  Partner Deck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2400" y="63754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19" b="1" i="0">
                <a:solidFill>
                  <a:srgbClr val="3F6212"/>
                </a:solidFill>
                <a:latin typeface="Nunit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